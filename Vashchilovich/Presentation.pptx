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0"/>
                </a:solidFill>
                <a:latin typeface="+mn-lt"/>
              </a:defRPr>
            </a:pPr>
            <a:r>
              <a:rPr lang="ru-RU" sz="1400" b="0" i="0" u="none" strike="noStrike">
                <a:solidFill>
                  <a:srgbClr val="1F2A30"/>
                </a:solidFill>
                <a:latin typeface="+mn-lt"/>
              </a:rPr>
              <a:t>Шагов до цели (среднее по 20 эпизодам)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Среднее число шагов</c:v>
                </c:pt>
              </c:strCache>
            </c:strRef>
          </c:tx>
          <c:spPr>
            <a:ln w="31750" cap="flat">
              <a:solidFill>
                <a:srgbClr val="1D6FA5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D6FA5"/>
              </a:solidFill>
              <a:ln w="9525" cap="flat">
                <a:solidFill>
                  <a:srgbClr val="1D6FA5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100</c:v>
                </c:pt>
                <c:pt idx="5">
                  <c:v>120</c:v>
                </c:pt>
                <c:pt idx="6">
                  <c:v>140</c:v>
                </c:pt>
                <c:pt idx="7">
                  <c:v>160</c:v>
                </c:pt>
                <c:pt idx="8">
                  <c:v>180</c:v>
                </c:pt>
                <c:pt idx="9">
                  <c:v>200</c:v>
                </c:pt>
                <c:pt idx="10">
                  <c:v>220</c:v>
                </c:pt>
                <c:pt idx="11">
                  <c:v>240</c:v>
                </c:pt>
                <c:pt idx="12">
                  <c:v>260</c:v>
                </c:pt>
                <c:pt idx="13">
                  <c:v>280</c:v>
                </c:pt>
                <c:pt idx="14">
                  <c:v>300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243.7</c:v>
                </c:pt>
                <c:pt idx="1">
                  <c:v>173.7</c:v>
                </c:pt>
                <c:pt idx="2">
                  <c:v>100.4</c:v>
                </c:pt>
                <c:pt idx="3">
                  <c:v>84.2</c:v>
                </c:pt>
                <c:pt idx="4">
                  <c:v>51.2</c:v>
                </c:pt>
                <c:pt idx="5">
                  <c:v>40.5</c:v>
                </c:pt>
                <c:pt idx="6">
                  <c:v>29.9</c:v>
                </c:pt>
                <c:pt idx="7">
                  <c:v>25.4</c:v>
                </c:pt>
                <c:pt idx="8">
                  <c:v>23.4</c:v>
                </c:pt>
                <c:pt idx="9">
                  <c:v>20.5</c:v>
                </c:pt>
                <c:pt idx="10">
                  <c:v>17.100000000000001</c:v>
                </c:pt>
                <c:pt idx="11">
                  <c:v>15.8</c:v>
                </c:pt>
                <c:pt idx="12">
                  <c:v>15</c:v>
                </c:pt>
                <c:pt idx="13">
                  <c:v>13.5</c:v>
                </c:pt>
                <c:pt idx="14">
                  <c:v>12.7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BAB-4B7E-BE92-89DB41329E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C757D"/>
                    </a:solidFill>
                    <a:latin typeface="Arial"/>
                  </a:defRPr>
                </a:pPr>
                <a:r>
                  <a:rPr lang="ru-RU" sz="1100" b="0" i="0" u="none" strike="noStrike">
                    <a:solidFill>
                      <a:srgbClr val="6C757D"/>
                    </a:solidFill>
                    <a:latin typeface="Arial"/>
                  </a:rPr>
                  <a:t>Эпизод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757D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C757D"/>
                    </a:solidFill>
                    <a:latin typeface="Arial"/>
                  </a:defRPr>
                </a:pPr>
                <a:r>
                  <a:rPr lang="ru-RU" sz="1100" b="0" i="0" u="none" strike="noStrike">
                    <a:solidFill>
                      <a:srgbClr val="6C757D"/>
                    </a:solidFill>
                    <a:latin typeface="Arial"/>
                  </a:rPr>
                  <a:t>Шагов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757D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C6F77339-5980-CC02-88A6-B97283F500F6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-548639" y="-1234439"/>
          <a:ext cx="8708571" cy="4330337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1071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44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6062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0868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0004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32374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3345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6162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41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76370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18872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41024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000266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40633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634180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86776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4218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3524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итульный">
    <p:bg>
      <p:bgPr>
        <a:solidFill>
          <a:srgbClr val="1F2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188720"/>
            <a:ext cx="106984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5760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320163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Заголовок и содержимо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333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93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09600" y="831669"/>
            <a:ext cx="7637417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Умный перекрёсток — рабочее пространство для испытания технологий ИИ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err="1">
                <a:solidFill>
                  <a:schemeClr val="bg2"/>
                </a:solidFill>
              </a:rPr>
              <a:t>Студент</a:t>
            </a:r>
            <a:r>
              <a:rPr lang="ru-RU" sz="1800" dirty="0">
                <a:solidFill>
                  <a:schemeClr val="bg2"/>
                </a:solidFill>
              </a:rPr>
              <a:t>ка</a:t>
            </a:r>
            <a:r>
              <a:rPr lang="en-US" sz="1800" dirty="0">
                <a:solidFill>
                  <a:schemeClr val="bg2"/>
                </a:solidFill>
              </a:rPr>
              <a:t>: </a:t>
            </a:r>
            <a:r>
              <a:rPr lang="ru-RU" sz="1800" dirty="0" err="1">
                <a:solidFill>
                  <a:srgbClr val="FF0000"/>
                </a:solidFill>
              </a:rPr>
              <a:t>Ващилович</a:t>
            </a:r>
            <a:r>
              <a:rPr lang="ru-RU" sz="1800" dirty="0">
                <a:solidFill>
                  <a:srgbClr val="FF0000"/>
                </a:solidFill>
              </a:rPr>
              <a:t> Олеся Дмитриевна 		Дата проекта:23.10.2026</a:t>
            </a:r>
            <a:endParaRPr lang="en-US" sz="1800" dirty="0"/>
          </a:p>
        </p:txBody>
      </p:sp>
      <p:pic>
        <p:nvPicPr>
          <p:cNvPr id="4" name="Image 0" descr="/tmp/claude-0/-home-claude/ae331700-b474-5dda-adf9-ca6ec2582dee/scratchpad/final/Ivanov/resources/media/TL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4008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Цель проекта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89145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Заказчику нужно рабочее пространство, где можно испытывать новые технологии искусственного интеллекта на модели городского перекрёстка.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Виртуальная сеть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69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500" dirty="0"/>
              <a:t>Предназначена для отображения элементов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0" y="2743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Характеристики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4069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500" dirty="0"/>
              <a:t>Предназначены для изменения свойств элементов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92240" y="27432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Изделие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069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500" dirty="0"/>
              <a:t>Получение данных с датчиков, коммуникация с платой.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326880" y="27432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Обучение ИИ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4069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500" dirty="0"/>
              <a:t>Предназначена для самостоятельной работы программы на основе ПДД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Сравнение: шаблон и созданная программа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508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Исходный шаблон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53440" y="2103120"/>
            <a:ext cx="4023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Пустое окно Main Window из Qt Designer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Архив ресурсов: плитки дороги 35×35, автомобили, светофоры, знаки, иконка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Нет объектов, карты и логики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Нет сохранения, нет обучения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5087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Реализованная программа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2103120"/>
            <a:ext cx="5669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Название «Умный перекрёсток» и иконка из архива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Палитра из 9 объектов, карта 20×12 клеток, плитки встык в два уровня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Добавление объектов щелчком, дорога — протягиванием мыши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Характеристики в таблице: значения выбираются из списков, картинка меняется сразу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Клавиша R поворачивает объект и переключает светофор, Delete и ластик удаляют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Сохранение, открытие и очистка сети (JSON)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Обучение автомобиля Q-learning, результаты в базе SQLite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68030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Сравнение: шаблон и созданная программа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572000" cy="484632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Исходный шаблон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394960" y="1325880"/>
            <a:ext cx="6217920" cy="4846320"/>
          </a:xfrm>
          <a:prstGeom prst="roundRect">
            <a:avLst>
              <a:gd name="adj" fmla="val 1509"/>
            </a:avLst>
          </a:prstGeom>
          <a:solidFill>
            <a:srgbClr val="FFF6DB"/>
          </a:solidFill>
          <a:ln w="12700">
            <a:solidFill>
              <a:srgbClr val="FFF6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0" y="15087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Реализованная программа</a:t>
            </a:r>
            <a:endParaRPr lang="en-US" sz="2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65F5A8-2305-E0F4-4075-8F82DB80E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613" y="2190207"/>
            <a:ext cx="6118613" cy="357486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5EF6493-156D-13F8-6B73-820D42230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20" y="2360023"/>
            <a:ext cx="4531420" cy="26430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Программно-аппаратная часть: модуль «Шлагбаум»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582122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Схема выполнена в приложении для макетирования; файл проекта — src/scheme, картинка — resources/scheme.png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338038"/>
              </p:ext>
            </p:extLst>
          </p:nvPr>
        </p:nvGraphicFramePr>
        <p:xfrm>
          <a:off x="7772400" y="1280160"/>
          <a:ext cx="3840480" cy="320040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Компонент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Назначение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Вывод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Uno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опрос датчиков, привод, связь с ПК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COM 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Сервопривод SG90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шлагбаум 0° / 90°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D9/5V/GND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температура, влажность, исправность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D2/5V/GND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Фоторезистор + 10 кОм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день или ночь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A0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автомобиль у шлагбаума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D7/D6/5V/GND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Светодиод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подсветка ночью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12D3772-5FEA-9934-721B-A405372E0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1125177"/>
            <a:ext cx="6644640" cy="46076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Интеграция изделия в интеллектуальную систему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377440" cy="182880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Датчики и сервопривод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880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DHT11, HC-SR04, фоторезистор, SG90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71800" y="2743200"/>
            <a:ext cx="41148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2011680"/>
            <a:ext cx="2377440" cy="1828800"/>
          </a:xfrm>
          <a:prstGeom prst="roundRect">
            <a:avLst>
              <a:gd name="adj" fmla="val 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Arduino Uno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880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прошивка module.ino: режимы, контроль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2743200"/>
            <a:ext cx="41148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2011680"/>
            <a:ext cx="2377440" cy="182880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Управляющая программа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880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gate.py: ручной и авто режим, журнал в БД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32520" y="2743200"/>
            <a:ext cx="41148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89720" y="2011680"/>
            <a:ext cx="2377440" cy="1828800"/>
          </a:xfrm>
          <a:prstGeom prst="roundRect">
            <a:avLst>
              <a:gd name="adj" fmla="val 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Виртуальная сеть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2880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city.py: модель перекрёстка, обучение ИИ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провода по схеме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USB, последовательный порт 9600 бод, строки DATA и команды M, A, O, C, T, 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023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модуль шлагбаума — объект сети перекрёстка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Изделие собирается по схеме из стандартных компонентов рабочего места, а данные датчиков и события сохраняются в базе SQLite — поэтому модуль можно реализовать и подключить к системе «Умный перекрёсток».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B213C686-59D4-6DA3-12FF-D0DCA73D2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30892"/>
            <a:ext cx="8412480" cy="4915087"/>
          </a:xfrm>
          <a:prstGeom prst="rect">
            <a:avLst/>
          </a:prstGeom>
        </p:spPr>
      </p:pic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Интерфейс приложения</a:t>
            </a:r>
            <a:endParaRPr lang="en-US" sz="30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9235440" y="12344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2354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784080" y="1216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Палитра объектов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784080" y="153619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выбор объекта, ластик, сохранить / открыть / очистить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235440" y="225856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235440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78408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Виртуальная сеть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784080" y="2560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карта 20×12: щелчок ставит объект, протягивание рисует дорогу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235440" y="328269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235440" y="3282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784080" y="3264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Характеристики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784080" y="358444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имя вводится, остальные значения выбираются из списка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235440" y="4306824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235440" y="4306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784080" y="42885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Клавиши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784080" y="460857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 — повернуть или переключить светофор, Delete — удалить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6067697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Все картинки — из архива ресурсов КИМ; название и иконка окна заданы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85800" y="1600200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200400" y="1600200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2004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406640" y="1600200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066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913120" y="4242816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913120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Тип и алгоритм обучения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12064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2A30"/>
                </a:solidFill>
              </a:rPr>
              <a:t>Тип: обучение с подкреплением</a:t>
            </a:r>
            <a:endParaRPr lang="en-US" sz="16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F2A30"/>
                </a:solidFill>
              </a:rPr>
              <a:t>Алгоритм: Q-learning (табличный)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chemeClr val="tx2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Агент — автомобиль на карте. Состояние — клетка, действие — ход вверх, вниз, влево или вправо.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chemeClr val="tx2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Сначала ходы в основном случайные (ε = 1), к концу обучения доля случайных ходов падает до 0,05 — агент пользуется выученной Q-таблицей.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892040"/>
            <a:ext cx="4572000" cy="960120"/>
          </a:xfrm>
          <a:prstGeom prst="roundRect">
            <a:avLst>
              <a:gd name="adj" fmla="val 761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8920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1"/>
                </a:solidFill>
              </a:rPr>
              <a:t>Q(s,a) ← Q(s,a) + α·(r + γ·max Q(s′,a′) − Q(s,a))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280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Награды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035040" y="187452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18745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+100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18745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доехал до пункта назначения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301752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30175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−1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30175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каждый шаг по дороге (короче путь — больше награда)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35040" y="416052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41605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−10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41605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нарушение: съезд с дороги, красный свет, знак 3.1 или 3.2, пешеход, другой автомобиль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539496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Параметры задаются в окне: число эпизодов, α — скорость обучения, γ — дисконт. Эпизод — не более 300 шагов.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365760" y="18288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br>
              <a:rPr lang="ru-RU" sz="3000" b="1" dirty="0">
                <a:solidFill>
                  <a:schemeClr val="tx1"/>
                </a:solidFill>
              </a:rPr>
            </a:br>
            <a:r>
              <a:rPr lang="en-US" sz="3000" b="1" dirty="0" err="1">
                <a:solidFill>
                  <a:schemeClr val="tx1"/>
                </a:solidFill>
              </a:rPr>
              <a:t>Данные</a:t>
            </a:r>
            <a:r>
              <a:rPr lang="en-US" sz="3000" b="1" dirty="0">
                <a:solidFill>
                  <a:schemeClr val="tx1"/>
                </a:solidFill>
              </a:rPr>
              <a:t> обучения (</a:t>
            </a:r>
            <a:r>
              <a:rPr lang="en-US" sz="3000" b="1" dirty="0" err="1">
                <a:solidFill>
                  <a:schemeClr val="tx1"/>
                </a:solidFill>
              </a:rPr>
              <a:t>запуск</a:t>
            </a:r>
            <a:r>
              <a:rPr lang="en-US" sz="3000" b="1" dirty="0">
                <a:solidFill>
                  <a:schemeClr val="tx1"/>
                </a:solidFill>
              </a:rPr>
              <a:t> 5: 300 эпизодов, α 1, γ 0,9)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2062130329"/>
              </p:ext>
            </p:extLst>
          </p:nvPr>
        </p:nvGraphicFramePr>
        <p:xfrm>
          <a:off x="548639" y="1071155"/>
          <a:ext cx="8708571" cy="44936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9744890" y="1234440"/>
            <a:ext cx="1867989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927770" y="1325880"/>
            <a:ext cx="14565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283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9831976" y="1874520"/>
            <a:ext cx="15980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dirty="0">
                <a:solidFill>
                  <a:schemeClr val="tx2"/>
                </a:solidFill>
              </a:rPr>
              <a:t>Успешных эпизодов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744890" y="3886200"/>
            <a:ext cx="186799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831976" y="3977640"/>
            <a:ext cx="159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19 шагов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9927770" y="4526280"/>
            <a:ext cx="15022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dirty="0">
                <a:solidFill>
                  <a:schemeClr val="tx2"/>
                </a:solidFill>
              </a:rPr>
              <a:t>Н</a:t>
            </a:r>
            <a:r>
              <a:rPr lang="en-US" sz="1300" dirty="0" err="1">
                <a:solidFill>
                  <a:schemeClr val="tx2"/>
                </a:solidFill>
              </a:rPr>
              <a:t>айденный</a:t>
            </a:r>
            <a:r>
              <a:rPr lang="en-US" sz="1300" dirty="0">
                <a:solidFill>
                  <a:schemeClr val="tx2"/>
                </a:solidFill>
              </a:rPr>
              <a:t> путь без нарушений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942544"/>
              </p:ext>
            </p:extLst>
          </p:nvPr>
        </p:nvGraphicFramePr>
        <p:xfrm>
          <a:off x="548640" y="5773783"/>
          <a:ext cx="11064240" cy="51816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Эпизодов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Успешных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доехал </a:t>
                      </a:r>
                      <a:r>
                        <a:rPr lang="en-US" sz="1100" dirty="0" err="1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19 шагов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57092" y="741089"/>
            <a:ext cx="10698480" cy="895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Требования заказчика выполнены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657092" y="2423160"/>
            <a:ext cx="7636303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Рабочее пространство с названием и иконкой, графика только из архива ресурсов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Объекты добавляются в виртуальную сеть, их характеристики изменяются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Спроектирована программно-аппаратная часть изделия на Arduino и связи с системой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Обучение автомобиля: тип, алгоритм и данные обучения из базы данных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Проект, Presentation и Instruction загружены в репозиторий Ivanov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</TotalTime>
  <Words>751</Words>
  <Application>Microsoft Office PowerPoint</Application>
  <PresentationFormat>Широкоэкранный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Trebuchet MS</vt:lpstr>
      <vt:lpstr>Wingdings 3</vt:lpstr>
      <vt:lpstr>Аспект</vt:lpstr>
      <vt:lpstr>Умный перекрёсток — рабочее пространство для испытания технологий ИИ</vt:lpstr>
      <vt:lpstr>Цель проекта</vt:lpstr>
      <vt:lpstr>Сравнение: шаблон и созданная программа</vt:lpstr>
      <vt:lpstr>Сравнение: шаблон и созданная программа</vt:lpstr>
      <vt:lpstr>Программно-аппаратная часть: модуль «Шлагбаум»</vt:lpstr>
      <vt:lpstr>Интеграция изделия в интеллектуальную систему</vt:lpstr>
      <vt:lpstr>Интерфейс приложения</vt:lpstr>
      <vt:lpstr>Тип и алгоритм обучения</vt:lpstr>
      <vt:lpstr> Данные обучения (запуск 5: 300 эпизодов, α 1, γ 0,9)</vt:lpstr>
      <vt:lpstr>Требования заказчика выполнены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Иванов Иван Иванович</dc:creator>
  <cp:lastModifiedBy>Stud907</cp:lastModifiedBy>
  <cp:revision>7</cp:revision>
  <dcterms:created xsi:type="dcterms:W3CDTF">2026-10-14T06:44:09Z</dcterms:created>
  <dcterms:modified xsi:type="dcterms:W3CDTF">2026-10-23T10:04:15Z</dcterms:modified>
</cp:coreProperties>
</file>