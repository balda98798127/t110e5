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2" d="100"/>
          <a:sy n="112" d="100"/>
        </p:scale>
        <p:origin x="51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204445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Титульный">
    <p:bg>
      <p:bgPr>
        <a:solidFill>
          <a:srgbClr val="1F2A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731520" y="1188720"/>
            <a:ext cx="10698480" cy="21945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600" b="1" dirty="0">
                <a:solidFill>
                  <a:schemeClr val="bg1"/>
                </a:solidFill>
              </a:defRPr>
            </a:lvl1pPr>
          </a:lstStyle>
          <a:p>
            <a:pPr marL="0" indent="0" algn="l">
              <a:buNone/>
            </a:pPr>
            <a:endParaRPr lang="en-US" sz="36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731520" y="3657600"/>
            <a:ext cx="10698480" cy="20116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1800" dirty="0">
                <a:solidFill>
                  <a:schemeClr val="bg2"/>
                </a:solidFill>
              </a:defRPr>
            </a:lvl1pPr>
          </a:lstStyle>
          <a:p>
            <a:pPr marL="0" indent="0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 и содержимое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000" b="1" dirty="0">
                <a:solidFill>
                  <a:schemeClr val="tx1"/>
                </a:solidFill>
              </a:defRPr>
            </a:lvl1pPr>
          </a:lstStyle>
          <a:p>
            <a:pPr marL="0" indent="0" algn="l">
              <a:buNone/>
            </a:pPr>
            <a:endParaRPr lang="en-US" sz="3000" dirty="0"/>
          </a:p>
        </p:txBody>
      </p:sp>
      <p:sp>
        <p:nvSpPr>
          <p:cNvPr id="3" name="Text 0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accent5"/>
                </a:solidFill>
              </a:rPr>
              <a:t>Модуль «Шлагбаум» — выявление неисправностей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C757D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C757D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731520" y="1188720"/>
            <a:ext cx="106984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bg1"/>
                </a:solidFill>
              </a:rPr>
              <a:t>Модуль «Шлагбаум»: контроль, диагностика и восстановление</a:t>
            </a:r>
            <a:endParaRPr lang="en-US" sz="36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731520" y="3657600"/>
            <a:ext cx="106984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chemeClr val="bg2"/>
                </a:solidFill>
              </a:rPr>
              <a:t>Система «Умный перекрёсток» · Задание 2</a:t>
            </a:r>
            <a:endParaRPr lang="en-US" sz="1800" dirty="0"/>
          </a:p>
          <a:p>
            <a:r>
              <a:rPr lang="en-US" sz="1800" dirty="0">
                <a:solidFill>
                  <a:schemeClr val="bg2"/>
                </a:solidFill>
              </a:rPr>
              <a:t>Студент: </a:t>
            </a:r>
            <a:r>
              <a:rPr lang="ru-RU" sz="18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текст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1"/>
                </a:solidFill>
              </a:rPr>
              <a:t>Состав модуля</a:t>
            </a:r>
            <a:endParaRPr lang="en-US" sz="30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5577840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 err="1">
                <a:solidFill>
                  <a:schemeClr val="accent5"/>
                </a:solidFill>
              </a:rPr>
              <a:t>Схема</a:t>
            </a:r>
            <a:r>
              <a:rPr lang="en-US" sz="1200" i="1" dirty="0">
                <a:solidFill>
                  <a:schemeClr val="accent5"/>
                </a:solidFill>
              </a:rPr>
              <a:t> </a:t>
            </a:r>
            <a:r>
              <a:rPr lang="en-US" sz="1200" i="1" dirty="0" err="1">
                <a:solidFill>
                  <a:schemeClr val="accent5"/>
                </a:solidFill>
              </a:rPr>
              <a:t>соединений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7772400" y="1280160"/>
            <a:ext cx="3840480" cy="1234440"/>
          </a:xfrm>
          <a:prstGeom prst="roundRect">
            <a:avLst>
              <a:gd name="adj" fmla="val 592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8001000" y="141732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Arduino Uno + module.ino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8001000" y="187452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опрос датчиков, сервопривод, строки DATA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7772400" y="2697480"/>
            <a:ext cx="3840480" cy="1234440"/>
          </a:xfrm>
          <a:prstGeom prst="roundRect">
            <a:avLst>
              <a:gd name="adj" fmla="val 592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8001000" y="283464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Приложение gate.py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8001000" y="329184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ручной и автоматический режим, мониторинг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7772400" y="4114800"/>
            <a:ext cx="3840480" cy="1234440"/>
          </a:xfrm>
          <a:prstGeom prst="roundRect">
            <a:avLst>
              <a:gd name="adj" fmla="val 592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8001000" y="425196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База данных events.db</a:t>
            </a:r>
            <a:endParaRPr lang="en-US" sz="1600" dirty="0"/>
          </a:p>
        </p:txBody>
      </p:sp>
      <p:sp>
        <p:nvSpPr>
          <p:cNvPr id="13" name="Text 10"/>
          <p:cNvSpPr txBox="1"/>
          <p:nvPr/>
        </p:nvSpPr>
        <p:spPr>
          <a:xfrm>
            <a:off x="8001000" y="470916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таблицы events и measurements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C757D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1"/>
                </a:solidFill>
              </a:rPr>
              <a:t>Режимы работы и логика</a:t>
            </a:r>
            <a:endParaRPr lang="en-US" sz="30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67470084"/>
              </p:ext>
            </p:extLst>
          </p:nvPr>
        </p:nvGraphicFramePr>
        <p:xfrm>
          <a:off x="548640" y="1280160"/>
          <a:ext cx="6035040" cy="3968496"/>
        </p:xfrm>
        <a:graphic>
          <a:graphicData uri="http://schemas.openxmlformats.org/drawingml/2006/table">
            <a:tbl>
              <a:tblPr/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Режим или датчик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Ситуация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Что делает модуль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F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Ручной режим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F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Автоматический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F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Автоматический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F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Фоторезистор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F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DHT11, температура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F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DHT11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Text 1"/>
          <p:cNvSpPr txBox="1"/>
          <p:nvPr/>
        </p:nvSpPr>
        <p:spPr>
          <a:xfrm>
            <a:off x="548640" y="5532120"/>
            <a:ext cx="6035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tx2"/>
                </a:solidFill>
              </a:rPr>
              <a:t>Оператор видит в «Мониторинге» режим, положение шлагбаума, показания датчиков и состояние: зелёное — норма, красное — неисправность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C757D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770892D-FD87-A921-8B2D-58893FEA083A}"/>
              </a:ext>
            </a:extLst>
          </p:cNvPr>
          <p:cNvSpPr txBox="1"/>
          <p:nvPr/>
        </p:nvSpPr>
        <p:spPr>
          <a:xfrm>
            <a:off x="8714574" y="2968228"/>
            <a:ext cx="162583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8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Рисунок интерфейса 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1"/>
                </a:solidFill>
              </a:rPr>
              <a:t>Выявление неисправности: обрыв провода DHT11</a:t>
            </a:r>
            <a:endParaRPr lang="en-US" sz="30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5120640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accent3"/>
                </a:solidFill>
              </a:rPr>
              <a:t>Провод DATA выдернут: состояние красное, автоматика не реагирует</a:t>
            </a:r>
            <a:endParaRPr lang="en-US" sz="1300" dirty="0"/>
          </a:p>
        </p:txBody>
      </p:sp>
      <p:sp>
        <p:nvSpPr>
          <p:cNvPr id="6" name="Text 2"/>
          <p:cNvSpPr txBox="1"/>
          <p:nvPr/>
        </p:nvSpPr>
        <p:spPr>
          <a:xfrm>
            <a:off x="4983480" y="5120640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Провод возвращён, выполнен сброс: состояние «норма»</a:t>
            </a:r>
            <a:endParaRPr lang="en-US" sz="1300" dirty="0"/>
          </a:p>
        </p:txBody>
      </p:sp>
      <p:sp>
        <p:nvSpPr>
          <p:cNvPr id="8" name="Text 4"/>
          <p:cNvSpPr txBox="1"/>
          <p:nvPr/>
        </p:nvSpPr>
        <p:spPr>
          <a:xfrm>
            <a:off x="8229600" y="153028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C757D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1214565-B386-F020-593E-D7354129DF87}"/>
              </a:ext>
            </a:extLst>
          </p:cNvPr>
          <p:cNvSpPr txBox="1"/>
          <p:nvPr/>
        </p:nvSpPr>
        <p:spPr>
          <a:xfrm>
            <a:off x="1151546" y="2739628"/>
            <a:ext cx="162583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8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Рисунок интерфейса 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8CF65AE-0B88-2C45-877F-13BA33739FA5}"/>
              </a:ext>
            </a:extLst>
          </p:cNvPr>
          <p:cNvSpPr txBox="1"/>
          <p:nvPr/>
        </p:nvSpPr>
        <p:spPr>
          <a:xfrm>
            <a:off x="5347531" y="2737222"/>
            <a:ext cx="162583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8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Рисунок интерфейса 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A4BEE5B-C4AD-3E0F-2A4D-A20E5899B5F7}"/>
              </a:ext>
            </a:extLst>
          </p:cNvPr>
          <p:cNvSpPr txBox="1"/>
          <p:nvPr/>
        </p:nvSpPr>
        <p:spPr>
          <a:xfrm>
            <a:off x="9543516" y="2537012"/>
            <a:ext cx="1625837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8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Рисунок интерфейса Журнал в БД</a:t>
            </a:r>
          </a:p>
          <a:p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1"/>
                </a:solidFill>
              </a:rPr>
              <a:t>Что делать пользователю при неисправности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1234440" y="1554480"/>
            <a:ext cx="731520" cy="731520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1234440" y="15544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chemeClr val="bg1"/>
                </a:solidFill>
              </a:rPr>
              <a:t>1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011680" y="1920240"/>
            <a:ext cx="1490472" cy="0"/>
          </a:xfrm>
          <a:prstGeom prst="line">
            <a:avLst/>
          </a:prstGeom>
          <a:noFill/>
          <a:ln w="19050">
            <a:solidFill>
              <a:srgbClr val="6C757D"/>
            </a:solidFill>
            <a:prstDash val="solid"/>
            <a:tailEnd type="triangle"/>
          </a:ln>
        </p:spPr>
      </p:sp>
      <p:sp>
        <p:nvSpPr>
          <p:cNvPr id="6" name="Shape 4"/>
          <p:cNvSpPr/>
          <p:nvPr/>
        </p:nvSpPr>
        <p:spPr>
          <a:xfrm>
            <a:off x="548640" y="2606040"/>
            <a:ext cx="2103120" cy="2743200"/>
          </a:xfrm>
          <a:prstGeom prst="roundRect">
            <a:avLst>
              <a:gd name="adj" fmla="val 347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85800" y="27432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chemeClr val="tx1"/>
                </a:solidFill>
              </a:rPr>
              <a:t>Заметить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3246120"/>
            <a:ext cx="18288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ru-RU" sz="1400" dirty="0">
                <a:solidFill>
                  <a:srgbClr val="FF0000"/>
                </a:solidFill>
              </a:rPr>
              <a:t>текст</a:t>
            </a:r>
            <a:endParaRPr lang="en-US" sz="1400" dirty="0">
              <a:solidFill>
                <a:srgbClr val="FF0000"/>
              </a:solidFill>
            </a:endParaRPr>
          </a:p>
        </p:txBody>
      </p:sp>
      <p:sp>
        <p:nvSpPr>
          <p:cNvPr id="9" name="Shape 7"/>
          <p:cNvSpPr/>
          <p:nvPr/>
        </p:nvSpPr>
        <p:spPr>
          <a:xfrm>
            <a:off x="3502152" y="1554480"/>
            <a:ext cx="731520" cy="73152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3502152" y="15544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chemeClr val="bg1"/>
                </a:solidFill>
              </a:rPr>
              <a:t>2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4279392" y="1920240"/>
            <a:ext cx="1490472" cy="0"/>
          </a:xfrm>
          <a:prstGeom prst="line">
            <a:avLst/>
          </a:prstGeom>
          <a:noFill/>
          <a:ln w="19050">
            <a:solidFill>
              <a:srgbClr val="6C757D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2816352" y="2606040"/>
            <a:ext cx="2103120" cy="2743200"/>
          </a:xfrm>
          <a:prstGeom prst="roundRect">
            <a:avLst>
              <a:gd name="adj" fmla="val 347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2953512" y="27432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chemeClr val="tx1"/>
                </a:solidFill>
              </a:rPr>
              <a:t>Проверить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2953512" y="3246120"/>
            <a:ext cx="18288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ru-RU" sz="1400" dirty="0">
                <a:solidFill>
                  <a:srgbClr val="FF0000"/>
                </a:solidFill>
              </a:rPr>
              <a:t>текст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769864" y="1554480"/>
            <a:ext cx="731520" cy="73152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5769864" y="15544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chemeClr val="bg1"/>
                </a:solidFill>
              </a:rPr>
              <a:t>3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6547104" y="1920240"/>
            <a:ext cx="1490472" cy="0"/>
          </a:xfrm>
          <a:prstGeom prst="line">
            <a:avLst/>
          </a:prstGeom>
          <a:noFill/>
          <a:ln w="19050">
            <a:solidFill>
              <a:srgbClr val="6C757D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5084064" y="2606040"/>
            <a:ext cx="2103120" cy="2743200"/>
          </a:xfrm>
          <a:prstGeom prst="roundRect">
            <a:avLst>
              <a:gd name="adj" fmla="val 347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221224" y="27432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chemeClr val="tx1"/>
                </a:solidFill>
              </a:rPr>
              <a:t>Самопроверка</a:t>
            </a:r>
            <a:endParaRPr lang="en-US" sz="1700" dirty="0"/>
          </a:p>
        </p:txBody>
      </p:sp>
      <p:sp>
        <p:nvSpPr>
          <p:cNvPr id="20" name="Text 18"/>
          <p:cNvSpPr txBox="1"/>
          <p:nvPr/>
        </p:nvSpPr>
        <p:spPr>
          <a:xfrm>
            <a:off x="5221224" y="3246120"/>
            <a:ext cx="18288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ru-RU" sz="1400" dirty="0">
                <a:solidFill>
                  <a:srgbClr val="FF0000"/>
                </a:solidFill>
              </a:rPr>
              <a:t>текст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8037576" y="1554480"/>
            <a:ext cx="731520" cy="73152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8037576" y="15544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chemeClr val="bg1"/>
                </a:solidFill>
              </a:rPr>
              <a:t>4</a:t>
            </a:r>
            <a:endParaRPr lang="en-US" sz="2200" dirty="0"/>
          </a:p>
        </p:txBody>
      </p:sp>
      <p:sp>
        <p:nvSpPr>
          <p:cNvPr id="23" name="Shape 21"/>
          <p:cNvSpPr/>
          <p:nvPr/>
        </p:nvSpPr>
        <p:spPr>
          <a:xfrm>
            <a:off x="8814816" y="1920240"/>
            <a:ext cx="1490472" cy="0"/>
          </a:xfrm>
          <a:prstGeom prst="line">
            <a:avLst/>
          </a:prstGeom>
          <a:noFill/>
          <a:ln w="19050">
            <a:solidFill>
              <a:srgbClr val="6C757D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7351776" y="2606040"/>
            <a:ext cx="2103120" cy="2743200"/>
          </a:xfrm>
          <a:prstGeom prst="roundRect">
            <a:avLst>
              <a:gd name="adj" fmla="val 347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7488936" y="27432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chemeClr val="tx1"/>
                </a:solidFill>
              </a:rPr>
              <a:t>Сброс</a:t>
            </a:r>
            <a:endParaRPr lang="en-US" sz="1700" dirty="0"/>
          </a:p>
        </p:txBody>
      </p:sp>
      <p:sp>
        <p:nvSpPr>
          <p:cNvPr id="26" name="Text 24"/>
          <p:cNvSpPr txBox="1"/>
          <p:nvPr/>
        </p:nvSpPr>
        <p:spPr>
          <a:xfrm>
            <a:off x="7488936" y="3246120"/>
            <a:ext cx="18288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ru-RU" sz="1400" dirty="0">
                <a:solidFill>
                  <a:srgbClr val="FF0000"/>
                </a:solidFill>
              </a:rPr>
              <a:t>текст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10305288" y="1554480"/>
            <a:ext cx="731520" cy="73152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10305288" y="15544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chemeClr val="bg1"/>
                </a:solidFill>
              </a:rPr>
              <a:t>5</a:t>
            </a:r>
            <a:endParaRPr lang="en-US" sz="2200" dirty="0"/>
          </a:p>
        </p:txBody>
      </p:sp>
      <p:sp>
        <p:nvSpPr>
          <p:cNvPr id="29" name="Shape 27"/>
          <p:cNvSpPr/>
          <p:nvPr/>
        </p:nvSpPr>
        <p:spPr>
          <a:xfrm>
            <a:off x="9619488" y="2606040"/>
            <a:ext cx="2103120" cy="2743200"/>
          </a:xfrm>
          <a:prstGeom prst="roundRect">
            <a:avLst>
              <a:gd name="adj" fmla="val 347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9756648" y="27432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chemeClr val="tx1"/>
                </a:solidFill>
              </a:rPr>
              <a:t>Специалист</a:t>
            </a:r>
            <a:endParaRPr lang="en-US" sz="1700" dirty="0"/>
          </a:p>
        </p:txBody>
      </p:sp>
      <p:sp>
        <p:nvSpPr>
          <p:cNvPr id="31" name="Text 29"/>
          <p:cNvSpPr txBox="1"/>
          <p:nvPr/>
        </p:nvSpPr>
        <p:spPr>
          <a:xfrm>
            <a:off x="9756648" y="3246120"/>
            <a:ext cx="18288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ru-RU" sz="1400" dirty="0">
                <a:solidFill>
                  <a:srgbClr val="FF0000"/>
                </a:solidFill>
              </a:rPr>
              <a:t>текст</a:t>
            </a:r>
            <a:endParaRPr lang="en-US" sz="1400" dirty="0"/>
          </a:p>
        </p:txBody>
      </p:sp>
      <p:sp>
        <p:nvSpPr>
          <p:cNvPr id="32" name="Text 30"/>
          <p:cNvSpPr txBox="1"/>
          <p:nvPr/>
        </p:nvSpPr>
        <p:spPr>
          <a:xfrm>
            <a:off x="548640" y="557784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При перегреве (OVERHEAT) модуль сам возвращается к работе, когда температура опустится ниже порога; в журнале появится RESTORE.</a:t>
            </a:r>
            <a:endParaRPr lang="en-US" sz="1400" dirty="0"/>
          </a:p>
        </p:txBody>
      </p:sp>
      <p:sp>
        <p:nvSpPr>
          <p:cNvPr id="3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C757D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731520" y="1188720"/>
            <a:ext cx="106984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bg1"/>
                </a:solidFill>
              </a:rPr>
              <a:t>Предложения по модернизации</a:t>
            </a:r>
            <a:endParaRPr lang="en-US" sz="36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731520" y="3657600"/>
            <a:ext cx="106984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ru-RU" sz="1800">
                <a:solidFill>
                  <a:srgbClr val="FF0000"/>
                </a:solidFill>
              </a:rPr>
              <a:t>текст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mart Crossroads">
  <a:themeElements>
    <a:clrScheme name="Smart Crossroads">
      <a:dk1>
        <a:srgbClr val="1F2A30"/>
      </a:dk1>
      <a:lt1>
        <a:srgbClr val="FFFFFF"/>
      </a:lt1>
      <a:dk2>
        <a:srgbClr val="37474F"/>
      </a:dk2>
      <a:lt2>
        <a:srgbClr val="ECEFF1"/>
      </a:lt2>
      <a:accent1>
        <a:srgbClr val="F2A900"/>
      </a:accent1>
      <a:accent2>
        <a:srgbClr val="2A9D8F"/>
      </a:accent2>
      <a:accent3>
        <a:srgbClr val="D62828"/>
      </a:accent3>
      <a:accent4>
        <a:srgbClr val="1D6FA5"/>
      </a:accent4>
      <a:accent5>
        <a:srgbClr val="6C757D"/>
      </a:accent5>
      <a:accent6>
        <a:srgbClr val="8E44AD"/>
      </a:accent6>
      <a:hlink>
        <a:srgbClr val="1D6FA5"/>
      </a:hlink>
      <a:folHlink>
        <a:srgbClr val="6C757D"/>
      </a:folHlink>
    </a:clrScheme>
    <a:fontScheme name="Smart Crossroads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192</Words>
  <Application>Microsoft Office PowerPoint</Application>
  <PresentationFormat>Широкоэкранный</PresentationFormat>
  <Paragraphs>58</Paragraphs>
  <Slides>6</Slides>
  <Notes>6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6</vt:i4>
      </vt:variant>
    </vt:vector>
  </HeadingPairs>
  <TitlesOfParts>
    <vt:vector size="10" baseType="lpstr">
      <vt:lpstr>Arial</vt:lpstr>
      <vt:lpstr>Calibri</vt:lpstr>
      <vt:lpstr>Times New Roman</vt:lpstr>
      <vt:lpstr>Smart Crossroads</vt:lpstr>
      <vt:lpstr>Модуль «Шлагбаум»: контроль, диагностика и восстановление</vt:lpstr>
      <vt:lpstr>Состав модуля</vt:lpstr>
      <vt:lpstr>Режимы работы и логика</vt:lpstr>
      <vt:lpstr>Выявление неисправности: обрыв провода DHT11</vt:lpstr>
      <vt:lpstr>Что делать пользователю при неисправности</vt:lpstr>
      <vt:lpstr>Предложения по модернизации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Diagnostics</dc:title>
  <dc:subject>PptxGenJS Presentation</dc:subject>
  <dc:creator>Иванов Иван Иванович</dc:creator>
  <cp:lastModifiedBy>1</cp:lastModifiedBy>
  <cp:revision>2</cp:revision>
  <dcterms:created xsi:type="dcterms:W3CDTF">2026-10-14T06:44:10Z</dcterms:created>
  <dcterms:modified xsi:type="dcterms:W3CDTF">2026-10-15T18:21:16Z</dcterms:modified>
</cp:coreProperties>
</file>